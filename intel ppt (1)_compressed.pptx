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0_0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al Rounded MT Bold" panose="020F0704030504030204" pitchFamily="34" charset="0"/>
      <p:regular r:id="rId13"/>
    </p:embeddedFont>
    <p:embeddedFont>
      <p:font typeface="Hagrid Ultra-Bold" panose="020B0604020202020204" charset="0"/>
      <p:regular r:id="rId14"/>
    </p:embeddedFont>
    <p:embeddedFont>
      <p:font typeface="Berlin Sans FB" panose="020E0602020502020306" pitchFamily="34" charset="0"/>
      <p:regular r:id="rId15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ivvic" panose="020B0604020202020204" charset="0"/>
      <p:regular r:id="rId21"/>
    </p:embeddedFont>
    <p:embeddedFont>
      <p:font typeface="Bodoni MT" panose="02070603080606020203" pitchFamily="18" charset="0"/>
      <p:regular r:id="rId22"/>
      <p:bold r:id="rId23"/>
      <p:italic r:id="rId24"/>
      <p:boldItalic r:id="rId25"/>
    </p:embeddedFont>
    <p:embeddedFont>
      <p:font typeface="Livvic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11D5270-34C4-2FB5-C4D5-AEB9D75E1015}" name="Aman Sharma" initials="AS" userId="f84b162e15d4253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1E9F0F-EC4F-44B1-9E1C-DC3072A00DB5}" authorId="{811D5270-34C4-2FB5-C4D5-AEB9D75E1015}" created="2025-11-15T15:07:28.914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IN"/>
          <a:t>nb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Relationship Id="rId9" Type="http://schemas.microsoft.com/office/2018/10/relationships/comments" Target="../comments/modernComment_100_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gif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8.png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2.png"/><Relationship Id="rId4" Type="http://schemas.openxmlformats.org/officeDocument/2006/relationships/image" Target="../media/image11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gif"/><Relationship Id="rId5" Type="http://schemas.openxmlformats.org/officeDocument/2006/relationships/image" Target="../media/image26.sv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2.png"/><Relationship Id="rId4" Type="http://schemas.openxmlformats.org/officeDocument/2006/relationships/image" Target="../media/image18.gi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4.svg"/><Relationship Id="rId4" Type="http://schemas.openxmlformats.org/officeDocument/2006/relationships/image" Target="../media/image20.png"/><Relationship Id="rId9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41.svg"/><Relationship Id="rId7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gif"/><Relationship Id="rId5" Type="http://schemas.openxmlformats.org/officeDocument/2006/relationships/image" Target="../media/image6.svg"/><Relationship Id="rId10" Type="http://schemas.openxmlformats.org/officeDocument/2006/relationships/image" Target="../media/image1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D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400" y="1270690"/>
            <a:ext cx="6539844" cy="8947548"/>
          </a:xfrm>
          <a:custGeom>
            <a:avLst/>
            <a:gdLst/>
            <a:ahLst/>
            <a:cxnLst/>
            <a:rect l="l" t="t" r="r" b="b"/>
            <a:pathLst>
              <a:path w="6539844" h="8947548">
                <a:moveTo>
                  <a:pt x="0" y="0"/>
                </a:moveTo>
                <a:lnTo>
                  <a:pt x="6539844" y="0"/>
                </a:lnTo>
                <a:lnTo>
                  <a:pt x="6539844" y="8947548"/>
                </a:lnTo>
                <a:lnTo>
                  <a:pt x="0" y="8947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6565244" y="4670192"/>
            <a:ext cx="838201" cy="1074272"/>
          </a:xfrm>
          <a:custGeom>
            <a:avLst/>
            <a:gdLst/>
            <a:ahLst/>
            <a:cxnLst/>
            <a:rect l="l" t="t" r="r" b="b"/>
            <a:pathLst>
              <a:path w="345577" h="345577">
                <a:moveTo>
                  <a:pt x="0" y="0"/>
                </a:moveTo>
                <a:lnTo>
                  <a:pt x="345577" y="0"/>
                </a:lnTo>
                <a:lnTo>
                  <a:pt x="345577" y="345577"/>
                </a:lnTo>
                <a:lnTo>
                  <a:pt x="0" y="3455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133444" y="1074273"/>
            <a:ext cx="12129156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84"/>
              </a:lnSpc>
            </a:pPr>
            <a:r>
              <a:rPr lang="en-IN" sz="8800" dirty="0">
                <a:solidFill>
                  <a:schemeClr val="tx2"/>
                </a:solidFill>
                <a:latin typeface="Hagrid Ultra-Bold" panose="020B0604020202020204" charset="0"/>
              </a:rPr>
              <a:t>AI-Based </a:t>
            </a:r>
            <a:r>
              <a:rPr lang="en-IN" sz="8800" dirty="0" smtClean="0">
                <a:solidFill>
                  <a:schemeClr val="tx2"/>
                </a:solidFill>
                <a:latin typeface="Hagrid Ultra-Bold" panose="020B0604020202020204" charset="0"/>
              </a:rPr>
              <a:t>Symptom Analyzer</a:t>
            </a:r>
            <a:endParaRPr lang="en-US" sz="8784" b="1" dirty="0">
              <a:solidFill>
                <a:schemeClr val="tx2"/>
              </a:solidFill>
              <a:latin typeface="Hagrid Ultra-Bold" panose="020B0604020202020204" charset="0"/>
              <a:ea typeface="Hagrid Ultra-Bold"/>
              <a:cs typeface="Hagrid Ultra-Bold"/>
              <a:sym typeface="Hagrid Ultra-Bold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AC214A5-2EA2-2A21-1C86-1AD89972A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5244" y="4305300"/>
            <a:ext cx="10229322" cy="4431972"/>
          </a:xfrm>
        </p:spPr>
        <p:txBody>
          <a:bodyPr>
            <a:normAutofit/>
          </a:bodyPr>
          <a:lstStyle/>
          <a:p>
            <a:r>
              <a:rPr lang="en-IN" dirty="0" smtClean="0">
                <a:latin typeface="Berlin Sans FB" panose="020E0602020502020306" pitchFamily="34" charset="0"/>
              </a:rPr>
              <a:t/>
            </a:r>
            <a:br>
              <a:rPr lang="en-IN" dirty="0" smtClean="0">
                <a:latin typeface="Berlin Sans FB" panose="020E0602020502020306" pitchFamily="34" charset="0"/>
              </a:rPr>
            </a:br>
            <a:r>
              <a:rPr lang="en-IN" dirty="0" smtClean="0">
                <a:latin typeface="Berlin Sans FB" panose="020E0602020502020306" pitchFamily="34" charset="0"/>
              </a:rPr>
              <a:t/>
            </a:r>
            <a:br>
              <a:rPr lang="en-IN" dirty="0" smtClean="0">
                <a:latin typeface="Berlin Sans FB" panose="020E0602020502020306" pitchFamily="34" charset="0"/>
              </a:rPr>
            </a:br>
            <a:r>
              <a:rPr lang="en-IN" dirty="0" smtClean="0">
                <a:latin typeface="Berlin Sans FB" panose="020E0602020502020306" pitchFamily="34" charset="0"/>
              </a:rPr>
              <a:t>Presented By: Jasmine Kaur(23BCA10115)</a:t>
            </a:r>
            <a:br>
              <a:rPr lang="en-IN" dirty="0" smtClean="0">
                <a:latin typeface="Berlin Sans FB" panose="020E0602020502020306" pitchFamily="34" charset="0"/>
              </a:rPr>
            </a:br>
            <a:r>
              <a:rPr lang="en-IN" dirty="0" smtClean="0">
                <a:latin typeface="Berlin Sans FB" panose="020E0602020502020306" pitchFamily="34" charset="0"/>
              </a:rPr>
              <a:t>                        </a:t>
            </a:r>
            <a:r>
              <a:rPr lang="en-IN" dirty="0" smtClean="0">
                <a:latin typeface="Berlin Sans FB" panose="020E0602020502020306" pitchFamily="34" charset="0"/>
              </a:rPr>
              <a:t>Kashish(23BCA10111</a:t>
            </a:r>
            <a:r>
              <a:rPr lang="en-IN" dirty="0" smtClean="0">
                <a:latin typeface="Berlin Sans FB" panose="020E0602020502020306" pitchFamily="34" charset="0"/>
              </a:rPr>
              <a:t>)</a:t>
            </a:r>
            <a:br>
              <a:rPr lang="en-IN" dirty="0" smtClean="0">
                <a:latin typeface="Berlin Sans FB" panose="020E0602020502020306" pitchFamily="34" charset="0"/>
              </a:rPr>
            </a:br>
            <a:r>
              <a:rPr lang="en-IN" dirty="0" smtClean="0">
                <a:latin typeface="Berlin Sans FB" panose="020E0602020502020306" pitchFamily="34" charset="0"/>
              </a:rPr>
              <a:t>                 Anjali Choudhary(23BCA10078)</a:t>
            </a:r>
            <a:br>
              <a:rPr lang="en-IN" dirty="0" smtClean="0">
                <a:latin typeface="Berlin Sans FB" panose="020E0602020502020306" pitchFamily="34" charset="0"/>
              </a:rPr>
            </a:br>
            <a:endParaRPr lang="en-IN" dirty="0">
              <a:latin typeface="Berlin Sans FB" panose="020E0602020502020306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46D1059-033D-DDCB-1127-F86BAEB050EF}"/>
              </a:ext>
            </a:extLst>
          </p:cNvPr>
          <p:cNvSpPr/>
          <p:nvPr/>
        </p:nvSpPr>
        <p:spPr>
          <a:xfrm>
            <a:off x="13847410" y="8268829"/>
            <a:ext cx="4465990" cy="2614634"/>
          </a:xfrm>
          <a:custGeom>
            <a:avLst/>
            <a:gdLst/>
            <a:ahLst/>
            <a:cxnLst/>
            <a:rect l="l" t="t" r="r" b="b"/>
            <a:pathLst>
              <a:path w="4465990" h="2614634">
                <a:moveTo>
                  <a:pt x="0" y="0"/>
                </a:moveTo>
                <a:lnTo>
                  <a:pt x="4465991" y="0"/>
                </a:lnTo>
                <a:lnTo>
                  <a:pt x="4465991" y="2614634"/>
                </a:lnTo>
                <a:lnTo>
                  <a:pt x="0" y="26146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9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9320" y="278722"/>
            <a:ext cx="11811000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84"/>
              </a:lnSpc>
            </a:pPr>
            <a:r>
              <a:rPr lang="en-IN" sz="8800" dirty="0">
                <a:latin typeface="Hagrid Ultra-Bold" panose="020B0604020202020204" charset="0"/>
              </a:rPr>
              <a:t>Problem Statement</a:t>
            </a:r>
            <a:endParaRPr lang="en-US" sz="8784" b="1" dirty="0">
              <a:solidFill>
                <a:srgbClr val="034172"/>
              </a:solidFill>
              <a:latin typeface="Hagrid Ultra-Bold" panose="020B0604020202020204" charset="0"/>
              <a:ea typeface="Hagrid Ultra-Bold"/>
              <a:cs typeface="Hagrid Ultra-Bold"/>
              <a:sym typeface="Hagrid Ultra-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24688" y="2804035"/>
            <a:ext cx="9601200" cy="7186196"/>
            <a:chOff x="0" y="0"/>
            <a:chExt cx="1038094" cy="2114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094" cy="211409"/>
            </a:xfrm>
            <a:custGeom>
              <a:avLst/>
              <a:gdLst/>
              <a:ahLst/>
              <a:cxnLst/>
              <a:rect l="l" t="t" r="r" b="b"/>
              <a:pathLst>
                <a:path w="1038094" h="211409">
                  <a:moveTo>
                    <a:pt x="105705" y="0"/>
                  </a:moveTo>
                  <a:lnTo>
                    <a:pt x="932390" y="0"/>
                  </a:lnTo>
                  <a:cubicBezTo>
                    <a:pt x="960424" y="0"/>
                    <a:pt x="987311" y="11137"/>
                    <a:pt x="1007134" y="30960"/>
                  </a:cubicBezTo>
                  <a:cubicBezTo>
                    <a:pt x="1026957" y="50784"/>
                    <a:pt x="1038094" y="77670"/>
                    <a:pt x="1038094" y="105705"/>
                  </a:cubicBezTo>
                  <a:lnTo>
                    <a:pt x="1038094" y="105705"/>
                  </a:lnTo>
                  <a:cubicBezTo>
                    <a:pt x="1038094" y="133739"/>
                    <a:pt x="1026957" y="160626"/>
                    <a:pt x="1007134" y="180449"/>
                  </a:cubicBezTo>
                  <a:cubicBezTo>
                    <a:pt x="987311" y="200273"/>
                    <a:pt x="960424" y="211409"/>
                    <a:pt x="932390" y="211409"/>
                  </a:cubicBezTo>
                  <a:lnTo>
                    <a:pt x="105705" y="211409"/>
                  </a:lnTo>
                  <a:cubicBezTo>
                    <a:pt x="77670" y="211409"/>
                    <a:pt x="50784" y="200273"/>
                    <a:pt x="30960" y="180449"/>
                  </a:cubicBezTo>
                  <a:cubicBezTo>
                    <a:pt x="11137" y="160626"/>
                    <a:pt x="0" y="133739"/>
                    <a:pt x="0" y="105705"/>
                  </a:cubicBezTo>
                  <a:lnTo>
                    <a:pt x="0" y="105705"/>
                  </a:lnTo>
                  <a:cubicBezTo>
                    <a:pt x="0" y="77670"/>
                    <a:pt x="11137" y="50784"/>
                    <a:pt x="30960" y="30960"/>
                  </a:cubicBezTo>
                  <a:cubicBezTo>
                    <a:pt x="50784" y="11137"/>
                    <a:pt x="77670" y="0"/>
                    <a:pt x="105705" y="0"/>
                  </a:cubicBezTo>
                  <a:close/>
                </a:path>
              </a:pathLst>
            </a:custGeom>
            <a:solidFill>
              <a:srgbClr val="52DEA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1038094" cy="173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587671" y="1912433"/>
            <a:ext cx="7952318" cy="8427312"/>
          </a:xfrm>
          <a:custGeom>
            <a:avLst/>
            <a:gdLst/>
            <a:ahLst/>
            <a:cxnLst/>
            <a:rect l="l" t="t" r="r" b="b"/>
            <a:pathLst>
              <a:path w="7952318" h="8427312">
                <a:moveTo>
                  <a:pt x="0" y="0"/>
                </a:moveTo>
                <a:lnTo>
                  <a:pt x="7952318" y="0"/>
                </a:lnTo>
                <a:lnTo>
                  <a:pt x="7952318" y="8427312"/>
                </a:lnTo>
                <a:lnTo>
                  <a:pt x="0" y="842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77DD2-F2F8-15C6-0945-9C962180840F}"/>
              </a:ext>
            </a:extLst>
          </p:cNvPr>
          <p:cNvSpPr txBox="1"/>
          <p:nvPr/>
        </p:nvSpPr>
        <p:spPr>
          <a:xfrm>
            <a:off x="1824671" y="3863932"/>
            <a:ext cx="8763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Berlin Sans FB" panose="020E0602020502020306" pitchFamily="34" charset="0"/>
              </a:rPr>
              <a:t>• Early diagnosis is crucial but often delayed.</a:t>
            </a:r>
          </a:p>
          <a:p>
            <a:r>
              <a:rPr lang="en-US" sz="3600" dirty="0">
                <a:solidFill>
                  <a:schemeClr val="tx2"/>
                </a:solidFill>
                <a:latin typeface="Berlin Sans FB" panose="020E0602020502020306" pitchFamily="34" charset="0"/>
              </a:rPr>
              <a:t>• Shortage of doctors in rural &amp; remote regions.</a:t>
            </a:r>
          </a:p>
          <a:p>
            <a:r>
              <a:rPr lang="en-US" sz="3600" dirty="0">
                <a:solidFill>
                  <a:schemeClr val="tx2"/>
                </a:solidFill>
                <a:latin typeface="Berlin Sans FB" panose="020E0602020502020306" pitchFamily="34" charset="0"/>
              </a:rPr>
              <a:t>• Overloaded healthcare systems lead to misdiagnosis.</a:t>
            </a:r>
          </a:p>
          <a:p>
            <a:r>
              <a:rPr lang="en-US" sz="3600" dirty="0">
                <a:solidFill>
                  <a:schemeClr val="tx2"/>
                </a:solidFill>
                <a:latin typeface="Berlin Sans FB" panose="020E0602020502020306" pitchFamily="34" charset="0"/>
              </a:rPr>
              <a:t>• Lack of accessible, low-cost predictive tools.</a:t>
            </a:r>
          </a:p>
          <a:p>
            <a:r>
              <a:rPr lang="en-US" sz="3600" dirty="0">
                <a:solidFill>
                  <a:schemeClr val="tx2"/>
                </a:solidFill>
                <a:latin typeface="Berlin Sans FB" panose="020E0602020502020306" pitchFamily="34" charset="0"/>
              </a:rPr>
              <a:t>• Late detection increases mortality and treatment cost.</a:t>
            </a: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48B62B9B-2C77-7B02-A265-F9BABF3D8481}"/>
              </a:ext>
            </a:extLst>
          </p:cNvPr>
          <p:cNvSpPr/>
          <p:nvPr/>
        </p:nvSpPr>
        <p:spPr>
          <a:xfrm>
            <a:off x="14706600" y="-308704"/>
            <a:ext cx="4465990" cy="2614634"/>
          </a:xfrm>
          <a:custGeom>
            <a:avLst/>
            <a:gdLst/>
            <a:ahLst/>
            <a:cxnLst/>
            <a:rect l="l" t="t" r="r" b="b"/>
            <a:pathLst>
              <a:path w="4465990" h="2614634">
                <a:moveTo>
                  <a:pt x="0" y="0"/>
                </a:moveTo>
                <a:lnTo>
                  <a:pt x="4465991" y="0"/>
                </a:lnTo>
                <a:lnTo>
                  <a:pt x="4465991" y="2614634"/>
                </a:lnTo>
                <a:lnTo>
                  <a:pt x="0" y="261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2397BD98-86FF-14DF-085F-4FC6340F90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770108" y="6892725"/>
            <a:ext cx="3789593" cy="34106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D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60509" y="1485900"/>
            <a:ext cx="7192726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84"/>
              </a:lnSpc>
            </a:pPr>
            <a:r>
              <a:rPr lang="en-IN" sz="8800" dirty="0">
                <a:latin typeface="Hagrid Ultra-Bold" panose="020B0604020202020204" charset="0"/>
              </a:rPr>
              <a:t>Objective</a:t>
            </a:r>
            <a:endParaRPr lang="en-US" sz="8784" b="1" dirty="0">
              <a:solidFill>
                <a:srgbClr val="034172"/>
              </a:solidFill>
              <a:latin typeface="Hagrid Ultra-Bold" panose="020B0604020202020204" charset="0"/>
              <a:ea typeface="Hagrid Ultra-Bold"/>
              <a:cs typeface="Hagrid Ultra-Bold"/>
              <a:sym typeface="Hagrid Ultra-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7595660" cy="8439622"/>
          </a:xfrm>
          <a:custGeom>
            <a:avLst/>
            <a:gdLst/>
            <a:ahLst/>
            <a:cxnLst/>
            <a:rect l="l" t="t" r="r" b="b"/>
            <a:pathLst>
              <a:path w="7595660" h="8439622">
                <a:moveTo>
                  <a:pt x="0" y="0"/>
                </a:moveTo>
                <a:lnTo>
                  <a:pt x="7595660" y="0"/>
                </a:lnTo>
                <a:lnTo>
                  <a:pt x="7595660" y="8439622"/>
                </a:lnTo>
                <a:lnTo>
                  <a:pt x="0" y="8439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75FDD-6D36-0044-A8AD-848E14E14C19}"/>
              </a:ext>
            </a:extLst>
          </p:cNvPr>
          <p:cNvSpPr txBox="1"/>
          <p:nvPr/>
        </p:nvSpPr>
        <p:spPr>
          <a:xfrm>
            <a:off x="8229600" y="2878595"/>
            <a:ext cx="8686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Berlin Sans FB" panose="020E0602020502020306" pitchFamily="34" charset="0"/>
              </a:rPr>
              <a:t>• Build an AI-driven system to predict diseases early.</a:t>
            </a:r>
          </a:p>
          <a:p>
            <a:r>
              <a:rPr lang="en-US" sz="4400" dirty="0">
                <a:solidFill>
                  <a:schemeClr val="tx2"/>
                </a:solidFill>
                <a:latin typeface="Berlin Sans FB" panose="020E0602020502020306" pitchFamily="34" charset="0"/>
              </a:rPr>
              <a:t>• Provide accessible healthcare support using technology.</a:t>
            </a:r>
          </a:p>
          <a:p>
            <a:r>
              <a:rPr lang="en-US" sz="4400" dirty="0">
                <a:solidFill>
                  <a:schemeClr val="tx2"/>
                </a:solidFill>
                <a:latin typeface="Berlin Sans FB" panose="020E0602020502020306" pitchFamily="34" charset="0"/>
              </a:rPr>
              <a:t>• Assist doctors, not replace them.</a:t>
            </a:r>
          </a:p>
          <a:p>
            <a:r>
              <a:rPr lang="en-US" sz="4400" dirty="0">
                <a:solidFill>
                  <a:schemeClr val="tx2"/>
                </a:solidFill>
                <a:latin typeface="Berlin Sans FB" panose="020E0602020502020306" pitchFamily="34" charset="0"/>
              </a:rPr>
              <a:t>• Enable faster decision-making using data-driven insights.</a:t>
            </a:r>
          </a:p>
        </p:txBody>
      </p:sp>
      <p:pic>
        <p:nvPicPr>
          <p:cNvPr id="12" name="Picture 13">
            <a:extLst>
              <a:ext uri="{FF2B5EF4-FFF2-40B4-BE49-F238E27FC236}">
                <a16:creationId xmlns:a16="http://schemas.microsoft.com/office/drawing/2014/main" id="{5DB844FD-A3FE-3311-BAB4-BB8DFCE70D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-963500">
            <a:off x="3798576" y="6848512"/>
            <a:ext cx="3616157" cy="3182218"/>
          </a:xfrm>
          <a:prstGeom prst="rect">
            <a:avLst/>
          </a:prstGeom>
        </p:spPr>
      </p:pic>
      <p:sp>
        <p:nvSpPr>
          <p:cNvPr id="13" name="Freeform 7">
            <a:extLst>
              <a:ext uri="{FF2B5EF4-FFF2-40B4-BE49-F238E27FC236}">
                <a16:creationId xmlns:a16="http://schemas.microsoft.com/office/drawing/2014/main" id="{843F3C31-3189-9EA3-0FC1-BE8717603FBE}"/>
              </a:ext>
            </a:extLst>
          </p:cNvPr>
          <p:cNvSpPr/>
          <p:nvPr/>
        </p:nvSpPr>
        <p:spPr>
          <a:xfrm flipH="1">
            <a:off x="15053235" y="7058519"/>
            <a:ext cx="3903948" cy="3485161"/>
          </a:xfrm>
          <a:custGeom>
            <a:avLst/>
            <a:gdLst/>
            <a:ahLst/>
            <a:cxnLst/>
            <a:rect l="l" t="t" r="r" b="b"/>
            <a:pathLst>
              <a:path w="3903948" h="3485161">
                <a:moveTo>
                  <a:pt x="3903948" y="0"/>
                </a:moveTo>
                <a:lnTo>
                  <a:pt x="0" y="0"/>
                </a:lnTo>
                <a:lnTo>
                  <a:pt x="0" y="3485161"/>
                </a:lnTo>
                <a:lnTo>
                  <a:pt x="3903948" y="3485161"/>
                </a:lnTo>
                <a:lnTo>
                  <a:pt x="390394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B9E1939D-7A62-4F8E-B66D-8A5983E485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-290249" y="5294641"/>
            <a:ext cx="4690872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63400" y="1347801"/>
            <a:ext cx="4940939" cy="8939199"/>
          </a:xfrm>
          <a:custGeom>
            <a:avLst/>
            <a:gdLst/>
            <a:ahLst/>
            <a:cxnLst/>
            <a:rect l="l" t="t" r="r" b="b"/>
            <a:pathLst>
              <a:path w="4940939" h="8939199">
                <a:moveTo>
                  <a:pt x="0" y="0"/>
                </a:moveTo>
                <a:lnTo>
                  <a:pt x="4940939" y="0"/>
                </a:lnTo>
                <a:lnTo>
                  <a:pt x="4940939" y="8939199"/>
                </a:lnTo>
                <a:lnTo>
                  <a:pt x="0" y="8939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90600" y="571076"/>
            <a:ext cx="9677400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84"/>
              </a:lnSpc>
            </a:pPr>
            <a:r>
              <a:rPr lang="en-IN" sz="8800" dirty="0">
                <a:latin typeface="Hagrid Ultra-Bold" panose="020B0604020202020204" charset="0"/>
              </a:rPr>
              <a:t>Proposed Solution</a:t>
            </a:r>
            <a:endParaRPr lang="en-US" sz="8784" b="1" dirty="0">
              <a:solidFill>
                <a:srgbClr val="034172"/>
              </a:solidFill>
              <a:latin typeface="Hagrid Ultra-Bold" panose="020B0604020202020204" charset="0"/>
              <a:ea typeface="Hagrid Ultra-Bold"/>
              <a:cs typeface="Hagrid Ultra-Bold"/>
              <a:sym typeface="Hagrid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50385" y="2828104"/>
            <a:ext cx="8294689" cy="50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5"/>
              </a:lnSpc>
              <a:spcBef>
                <a:spcPct val="0"/>
              </a:spcBef>
            </a:pPr>
            <a:r>
              <a:rPr lang="en-US" sz="3096" dirty="0">
                <a:solidFill>
                  <a:srgbClr val="034172"/>
                </a:solidFill>
                <a:latin typeface="Livvic"/>
                <a:ea typeface="Livvic"/>
                <a:cs typeface="Livvic"/>
                <a:sym typeface="Livvic"/>
              </a:rPr>
              <a:t>\</a:t>
            </a:r>
            <a:endParaRPr lang="en-US" sz="3096" u="none" strike="noStrike" dirty="0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95400" y="2828104"/>
            <a:ext cx="10972800" cy="4983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• Machine Learning model trained on medical datasets.</a:t>
            </a:r>
          </a:p>
          <a:p>
            <a:r>
              <a:rPr lang="en-IN" sz="36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• User inputs symptoms → AI predicts probable disease.</a:t>
            </a:r>
          </a:p>
          <a:p>
            <a:r>
              <a:rPr lang="en-IN" sz="36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• Easy interface usable by medical workers and rural clinics.</a:t>
            </a:r>
          </a:p>
          <a:p>
            <a:r>
              <a:rPr lang="en-IN" sz="36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• Supports multiple disease categories.</a:t>
            </a:r>
          </a:p>
          <a:p>
            <a:r>
              <a:rPr lang="en-IN" sz="36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• Provides confidence scores for transparency.</a:t>
            </a:r>
          </a:p>
          <a:p>
            <a:pPr marL="0" lvl="0" indent="0" algn="ctr">
              <a:lnSpc>
                <a:spcPts val="4335"/>
              </a:lnSpc>
              <a:spcBef>
                <a:spcPct val="0"/>
              </a:spcBef>
            </a:pPr>
            <a:endParaRPr lang="en-US" sz="3600" u="none" strike="noStrike" dirty="0">
              <a:solidFill>
                <a:schemeClr val="tx2"/>
              </a:solidFill>
              <a:latin typeface="Arial Rounded MT Bold" panose="020F0704030504030204" pitchFamily="34" charset="0"/>
              <a:ea typeface="Livvic"/>
              <a:cs typeface="Livvic"/>
              <a:sym typeface="Livvic"/>
            </a:endParaRPr>
          </a:p>
        </p:txBody>
      </p:sp>
      <p:pic>
        <p:nvPicPr>
          <p:cNvPr id="7" name="Picture 26">
            <a:extLst>
              <a:ext uri="{FF2B5EF4-FFF2-40B4-BE49-F238E27FC236}">
                <a16:creationId xmlns:a16="http://schemas.microsoft.com/office/drawing/2014/main" id="{AD5562D8-FDD4-DD8F-73E4-A948B776EB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7420797"/>
            <a:ext cx="3192709" cy="3208753"/>
          </a:xfrm>
          <a:prstGeom prst="rect">
            <a:avLst/>
          </a:prstGeom>
        </p:spPr>
      </p:pic>
      <p:sp>
        <p:nvSpPr>
          <p:cNvPr id="8" name="Freeform 13">
            <a:extLst>
              <a:ext uri="{FF2B5EF4-FFF2-40B4-BE49-F238E27FC236}">
                <a16:creationId xmlns:a16="http://schemas.microsoft.com/office/drawing/2014/main" id="{3DE9057F-47B9-F1CE-D094-C218A0C88A8E}"/>
              </a:ext>
            </a:extLst>
          </p:cNvPr>
          <p:cNvSpPr/>
          <p:nvPr/>
        </p:nvSpPr>
        <p:spPr>
          <a:xfrm>
            <a:off x="16405750" y="-1065382"/>
            <a:ext cx="4045177" cy="3272916"/>
          </a:xfrm>
          <a:custGeom>
            <a:avLst/>
            <a:gdLst/>
            <a:ahLst/>
            <a:cxnLst/>
            <a:rect l="l" t="t" r="r" b="b"/>
            <a:pathLst>
              <a:path w="4045177" h="3272916">
                <a:moveTo>
                  <a:pt x="0" y="0"/>
                </a:moveTo>
                <a:lnTo>
                  <a:pt x="4045176" y="0"/>
                </a:lnTo>
                <a:lnTo>
                  <a:pt x="4045176" y="3272916"/>
                </a:lnTo>
                <a:lnTo>
                  <a:pt x="0" y="32729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D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88295" y="2625025"/>
            <a:ext cx="9753599" cy="7103408"/>
            <a:chOff x="-387623" y="-81381"/>
            <a:chExt cx="2006913" cy="1870853"/>
          </a:xfrm>
        </p:grpSpPr>
        <p:sp>
          <p:nvSpPr>
            <p:cNvPr id="3" name="Freeform 3"/>
            <p:cNvSpPr/>
            <p:nvPr/>
          </p:nvSpPr>
          <p:spPr>
            <a:xfrm>
              <a:off x="-387623" y="-81381"/>
              <a:ext cx="2006913" cy="1870853"/>
            </a:xfrm>
            <a:custGeom>
              <a:avLst/>
              <a:gdLst/>
              <a:ahLst/>
              <a:cxnLst/>
              <a:rect l="l" t="t" r="r" b="b"/>
              <a:pathLst>
                <a:path w="1038094" h="211409">
                  <a:moveTo>
                    <a:pt x="105705" y="0"/>
                  </a:moveTo>
                  <a:lnTo>
                    <a:pt x="932390" y="0"/>
                  </a:lnTo>
                  <a:cubicBezTo>
                    <a:pt x="960424" y="0"/>
                    <a:pt x="987311" y="11137"/>
                    <a:pt x="1007134" y="30960"/>
                  </a:cubicBezTo>
                  <a:cubicBezTo>
                    <a:pt x="1026957" y="50784"/>
                    <a:pt x="1038094" y="77670"/>
                    <a:pt x="1038094" y="105705"/>
                  </a:cubicBezTo>
                  <a:lnTo>
                    <a:pt x="1038094" y="105705"/>
                  </a:lnTo>
                  <a:cubicBezTo>
                    <a:pt x="1038094" y="133739"/>
                    <a:pt x="1026957" y="160626"/>
                    <a:pt x="1007134" y="180449"/>
                  </a:cubicBezTo>
                  <a:cubicBezTo>
                    <a:pt x="987311" y="200273"/>
                    <a:pt x="960424" y="211409"/>
                    <a:pt x="932390" y="211409"/>
                  </a:cubicBezTo>
                  <a:lnTo>
                    <a:pt x="105705" y="211409"/>
                  </a:lnTo>
                  <a:cubicBezTo>
                    <a:pt x="77670" y="211409"/>
                    <a:pt x="50784" y="200273"/>
                    <a:pt x="30960" y="180449"/>
                  </a:cubicBezTo>
                  <a:cubicBezTo>
                    <a:pt x="11137" y="160626"/>
                    <a:pt x="0" y="133739"/>
                    <a:pt x="0" y="105705"/>
                  </a:cubicBezTo>
                  <a:lnTo>
                    <a:pt x="0" y="105705"/>
                  </a:lnTo>
                  <a:cubicBezTo>
                    <a:pt x="0" y="77670"/>
                    <a:pt x="11137" y="50784"/>
                    <a:pt x="30960" y="30960"/>
                  </a:cubicBezTo>
                  <a:cubicBezTo>
                    <a:pt x="50784" y="11137"/>
                    <a:pt x="77670" y="0"/>
                    <a:pt x="105705" y="0"/>
                  </a:cubicBezTo>
                  <a:close/>
                </a:path>
              </a:pathLst>
            </a:custGeom>
            <a:solidFill>
              <a:srgbClr val="6ECEF2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038094" cy="173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-34047" y="1273892"/>
            <a:ext cx="8160591" cy="8715194"/>
          </a:xfrm>
          <a:custGeom>
            <a:avLst/>
            <a:gdLst/>
            <a:ahLst/>
            <a:cxnLst/>
            <a:rect l="l" t="t" r="r" b="b"/>
            <a:pathLst>
              <a:path w="8160591" h="8715194">
                <a:moveTo>
                  <a:pt x="0" y="0"/>
                </a:moveTo>
                <a:lnTo>
                  <a:pt x="8160591" y="0"/>
                </a:lnTo>
                <a:lnTo>
                  <a:pt x="8160591" y="8715194"/>
                </a:lnTo>
                <a:lnTo>
                  <a:pt x="0" y="8715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320721" y="326090"/>
            <a:ext cx="10132932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84"/>
              </a:lnSpc>
            </a:pPr>
            <a:r>
              <a:rPr lang="en-IN" sz="8800" dirty="0">
                <a:latin typeface="Hagrid Ultra-Bold" panose="020B0604020202020204" charset="0"/>
              </a:rPr>
              <a:t>How the System Works</a:t>
            </a:r>
            <a:endParaRPr lang="en-US" sz="8784" b="1" dirty="0">
              <a:solidFill>
                <a:srgbClr val="034172"/>
              </a:solidFill>
              <a:latin typeface="Hagrid Ultra-Bold" panose="020B0604020202020204" charset="0"/>
              <a:ea typeface="Hagrid Ultra-Bold"/>
              <a:cs typeface="Hagrid Ultra-Bold"/>
              <a:sym typeface="Hagrid Ultra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568804" y="7124700"/>
            <a:ext cx="5559418" cy="50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5"/>
              </a:lnSpc>
              <a:spcBef>
                <a:spcPct val="0"/>
              </a:spcBef>
            </a:pPr>
            <a:endParaRPr lang="en-US" sz="3096" dirty="0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870D58-F1C2-31DF-CA3D-2DFC25B76C7D}"/>
              </a:ext>
            </a:extLst>
          </p:cNvPr>
          <p:cNvSpPr txBox="1"/>
          <p:nvPr/>
        </p:nvSpPr>
        <p:spPr>
          <a:xfrm>
            <a:off x="8915400" y="3078680"/>
            <a:ext cx="88392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1. Data collection &amp; preprocessing.</a:t>
            </a:r>
          </a:p>
          <a:p>
            <a:r>
              <a:rPr lang="en-IN" sz="4000" dirty="0"/>
              <a:t>2. Model training using classification algorithms.</a:t>
            </a:r>
          </a:p>
          <a:p>
            <a:r>
              <a:rPr lang="en-IN" sz="4000" dirty="0"/>
              <a:t>3. Evaluation using accuracy, precision, recall &amp; F1 score.</a:t>
            </a:r>
          </a:p>
          <a:p>
            <a:r>
              <a:rPr lang="en-IN" sz="4000" dirty="0"/>
              <a:t>4. Real-time predictions through a lightweight interface.</a:t>
            </a:r>
          </a:p>
          <a:p>
            <a:r>
              <a:rPr lang="en-IN" sz="4000" dirty="0"/>
              <a:t>5. Continuous learning with updated datasets.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772400" y="2828528"/>
            <a:ext cx="9677400" cy="7115573"/>
            <a:chOff x="0" y="0"/>
            <a:chExt cx="1284118" cy="2114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4118" cy="211409"/>
            </a:xfrm>
            <a:custGeom>
              <a:avLst/>
              <a:gdLst/>
              <a:ahLst/>
              <a:cxnLst/>
              <a:rect l="l" t="t" r="r" b="b"/>
              <a:pathLst>
                <a:path w="1284118" h="211409">
                  <a:moveTo>
                    <a:pt x="105705" y="0"/>
                  </a:moveTo>
                  <a:lnTo>
                    <a:pt x="1178413" y="0"/>
                  </a:lnTo>
                  <a:cubicBezTo>
                    <a:pt x="1206448" y="0"/>
                    <a:pt x="1233334" y="11137"/>
                    <a:pt x="1253157" y="30960"/>
                  </a:cubicBezTo>
                  <a:cubicBezTo>
                    <a:pt x="1272981" y="50784"/>
                    <a:pt x="1284118" y="77670"/>
                    <a:pt x="1284118" y="105705"/>
                  </a:cubicBezTo>
                  <a:lnTo>
                    <a:pt x="1284118" y="105705"/>
                  </a:lnTo>
                  <a:cubicBezTo>
                    <a:pt x="1284118" y="133739"/>
                    <a:pt x="1272981" y="160626"/>
                    <a:pt x="1253157" y="180449"/>
                  </a:cubicBezTo>
                  <a:cubicBezTo>
                    <a:pt x="1233334" y="200273"/>
                    <a:pt x="1206448" y="211409"/>
                    <a:pt x="1178413" y="211409"/>
                  </a:cubicBezTo>
                  <a:lnTo>
                    <a:pt x="105705" y="211409"/>
                  </a:lnTo>
                  <a:cubicBezTo>
                    <a:pt x="77670" y="211409"/>
                    <a:pt x="50784" y="200273"/>
                    <a:pt x="30960" y="180449"/>
                  </a:cubicBezTo>
                  <a:cubicBezTo>
                    <a:pt x="11137" y="160626"/>
                    <a:pt x="0" y="133739"/>
                    <a:pt x="0" y="105705"/>
                  </a:cubicBezTo>
                  <a:lnTo>
                    <a:pt x="0" y="105705"/>
                  </a:lnTo>
                  <a:cubicBezTo>
                    <a:pt x="0" y="77670"/>
                    <a:pt x="11137" y="50784"/>
                    <a:pt x="30960" y="30960"/>
                  </a:cubicBezTo>
                  <a:cubicBezTo>
                    <a:pt x="50784" y="11137"/>
                    <a:pt x="77670" y="0"/>
                    <a:pt x="105705" y="0"/>
                  </a:cubicBezTo>
                  <a:close/>
                </a:path>
              </a:pathLst>
            </a:custGeom>
            <a:solidFill>
              <a:srgbClr val="52DE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1284118" cy="173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513202" y="831562"/>
            <a:ext cx="6357824" cy="8897719"/>
          </a:xfrm>
          <a:custGeom>
            <a:avLst/>
            <a:gdLst/>
            <a:ahLst/>
            <a:cxnLst/>
            <a:rect l="l" t="t" r="r" b="b"/>
            <a:pathLst>
              <a:path w="6357824" h="8897719">
                <a:moveTo>
                  <a:pt x="0" y="0"/>
                </a:moveTo>
                <a:lnTo>
                  <a:pt x="6357824" y="0"/>
                </a:lnTo>
                <a:lnTo>
                  <a:pt x="6357824" y="8897718"/>
                </a:lnTo>
                <a:lnTo>
                  <a:pt x="0" y="8897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324600" y="817781"/>
            <a:ext cx="11459926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84"/>
              </a:lnSpc>
            </a:pPr>
            <a:r>
              <a:rPr lang="en-IN" sz="8800" dirty="0">
                <a:latin typeface="Hagrid Ultra-Bold" panose="020B0604020202020204" charset="0"/>
              </a:rPr>
              <a:t>Model Accuracy &amp; Evaluation</a:t>
            </a:r>
            <a:endParaRPr lang="en-US" sz="8784" b="1" dirty="0">
              <a:solidFill>
                <a:srgbClr val="034172"/>
              </a:solidFill>
              <a:latin typeface="Hagrid Ultra-Bold" panose="020B0604020202020204" charset="0"/>
              <a:ea typeface="Hagrid Ultra-Bold"/>
              <a:cs typeface="Hagrid Ultra-Bold"/>
              <a:sym typeface="Hagrid Ultra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75429" y="3325823"/>
            <a:ext cx="4329868" cy="31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4"/>
              </a:lnSpc>
            </a:pPr>
            <a:r>
              <a:rPr lang="en-US" sz="2344" b="1" dirty="0">
                <a:solidFill>
                  <a:srgbClr val="034172"/>
                </a:solidFill>
                <a:latin typeface="Livvic Bold"/>
                <a:ea typeface="Livvic Bold"/>
                <a:cs typeface="Livvic Bold"/>
                <a:sym typeface="Livvic Bold"/>
              </a:rPr>
              <a:t>DIAGNOSTIC SERVICES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54BCB3-0B58-C1AA-D0C1-45BA8FED18B0}"/>
              </a:ext>
            </a:extLst>
          </p:cNvPr>
          <p:cNvSpPr txBox="1"/>
          <p:nvPr/>
        </p:nvSpPr>
        <p:spPr>
          <a:xfrm>
            <a:off x="8382000" y="3895780"/>
            <a:ext cx="868679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• Accuracy calculated using test dataset.</a:t>
            </a:r>
          </a:p>
          <a:p>
            <a:r>
              <a:rPr lang="en-US" sz="4400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• Confusion matrix to analyze correct vs wrong predictions.</a:t>
            </a:r>
          </a:p>
          <a:p>
            <a:r>
              <a:rPr lang="en-US" sz="4400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• Cross-validation to ensure stability.</a:t>
            </a:r>
          </a:p>
          <a:p>
            <a:r>
              <a:rPr lang="en-US" sz="4400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• Achieved high performance with well-balanced metrics.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70942" y="-2031225"/>
            <a:ext cx="20203271" cy="14349450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4D5E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4291" y="179569"/>
            <a:ext cx="18592804" cy="9371354"/>
            <a:chOff x="-733873" y="-46962"/>
            <a:chExt cx="2612927" cy="258371"/>
          </a:xfrm>
        </p:grpSpPr>
        <p:sp>
          <p:nvSpPr>
            <p:cNvPr id="5" name="Freeform 5"/>
            <p:cNvSpPr/>
            <p:nvPr/>
          </p:nvSpPr>
          <p:spPr>
            <a:xfrm>
              <a:off x="-733873" y="-46962"/>
              <a:ext cx="2612927" cy="258370"/>
            </a:xfrm>
            <a:custGeom>
              <a:avLst/>
              <a:gdLst/>
              <a:ahLst/>
              <a:cxnLst/>
              <a:rect l="l" t="t" r="r" b="b"/>
              <a:pathLst>
                <a:path w="1038094" h="211409">
                  <a:moveTo>
                    <a:pt x="105705" y="0"/>
                  </a:moveTo>
                  <a:lnTo>
                    <a:pt x="932390" y="0"/>
                  </a:lnTo>
                  <a:cubicBezTo>
                    <a:pt x="960424" y="0"/>
                    <a:pt x="987311" y="11137"/>
                    <a:pt x="1007134" y="30960"/>
                  </a:cubicBezTo>
                  <a:cubicBezTo>
                    <a:pt x="1026957" y="50784"/>
                    <a:pt x="1038094" y="77670"/>
                    <a:pt x="1038094" y="105705"/>
                  </a:cubicBezTo>
                  <a:lnTo>
                    <a:pt x="1038094" y="105705"/>
                  </a:lnTo>
                  <a:cubicBezTo>
                    <a:pt x="1038094" y="133739"/>
                    <a:pt x="1026957" y="160626"/>
                    <a:pt x="1007134" y="180449"/>
                  </a:cubicBezTo>
                  <a:cubicBezTo>
                    <a:pt x="987311" y="200273"/>
                    <a:pt x="960424" y="211409"/>
                    <a:pt x="932390" y="211409"/>
                  </a:cubicBezTo>
                  <a:lnTo>
                    <a:pt x="105705" y="211409"/>
                  </a:lnTo>
                  <a:cubicBezTo>
                    <a:pt x="77670" y="211409"/>
                    <a:pt x="50784" y="200273"/>
                    <a:pt x="30960" y="180449"/>
                  </a:cubicBezTo>
                  <a:cubicBezTo>
                    <a:pt x="11137" y="160626"/>
                    <a:pt x="0" y="133739"/>
                    <a:pt x="0" y="105705"/>
                  </a:cubicBezTo>
                  <a:lnTo>
                    <a:pt x="0" y="105705"/>
                  </a:lnTo>
                  <a:cubicBezTo>
                    <a:pt x="0" y="77670"/>
                    <a:pt x="11137" y="50784"/>
                    <a:pt x="30960" y="30960"/>
                  </a:cubicBezTo>
                  <a:cubicBezTo>
                    <a:pt x="50784" y="11137"/>
                    <a:pt x="77670" y="0"/>
                    <a:pt x="105705" y="0"/>
                  </a:cubicBezTo>
                  <a:close/>
                </a:path>
              </a:pathLst>
            </a:custGeom>
            <a:solidFill>
              <a:srgbClr val="BDF4D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1038094" cy="173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428998" y="931461"/>
            <a:ext cx="1200338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9"/>
              </a:lnSpc>
            </a:pPr>
            <a:r>
              <a:rPr lang="en-IN" sz="7200" dirty="0">
                <a:latin typeface="Hagrid Ultra-Bold" panose="020B0604020202020204" charset="0"/>
              </a:rPr>
              <a:t>Impact on Society</a:t>
            </a:r>
            <a:endParaRPr lang="en-US" sz="7189" b="1" dirty="0">
              <a:solidFill>
                <a:srgbClr val="034172"/>
              </a:solidFill>
              <a:latin typeface="Hagrid Ultra-Bold" panose="020B0604020202020204" charset="0"/>
              <a:ea typeface="Hagrid Ultra-Bold"/>
              <a:cs typeface="Hagrid Ultra-Bold"/>
              <a:sym typeface="Hagrid Ultra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37850" y="2095500"/>
            <a:ext cx="8099071" cy="649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/>
              <a:t>• Early detection reduces risk &amp; mortality.</a:t>
            </a:r>
          </a:p>
          <a:p>
            <a:r>
              <a:rPr lang="en-IN" sz="4000" dirty="0"/>
              <a:t>• Supports rural health centers lacking specialist doctors.</a:t>
            </a:r>
          </a:p>
          <a:p>
            <a:r>
              <a:rPr lang="en-IN" sz="4000" dirty="0"/>
              <a:t>• Reduces diagnostic workload for hospitals.</a:t>
            </a:r>
          </a:p>
          <a:p>
            <a:r>
              <a:rPr lang="en-IN" sz="4000" dirty="0"/>
              <a:t>• Promotes digital health adoption across India.</a:t>
            </a:r>
          </a:p>
          <a:p>
            <a:r>
              <a:rPr lang="en-IN" sz="4000" dirty="0"/>
              <a:t>• Helps government initiatives like Ayushman Bharat Digital Mission.</a:t>
            </a:r>
          </a:p>
          <a:p>
            <a:pPr algn="ctr">
              <a:lnSpc>
                <a:spcPts val="2344"/>
              </a:lnSpc>
            </a:pPr>
            <a:endParaRPr lang="en-US" sz="4000" b="1" dirty="0">
              <a:solidFill>
                <a:srgbClr val="034172"/>
              </a:solidFill>
              <a:latin typeface="Livvic Bold"/>
              <a:ea typeface="Livvic Bold"/>
              <a:cs typeface="Livvic Bold"/>
              <a:sym typeface="Livvic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3409592" y="4654440"/>
            <a:ext cx="4892999" cy="5185259"/>
          </a:xfrm>
          <a:custGeom>
            <a:avLst/>
            <a:gdLst/>
            <a:ahLst/>
            <a:cxnLst/>
            <a:rect l="l" t="t" r="r" b="b"/>
            <a:pathLst>
              <a:path w="4892999" h="5185259">
                <a:moveTo>
                  <a:pt x="0" y="0"/>
                </a:moveTo>
                <a:lnTo>
                  <a:pt x="4892999" y="0"/>
                </a:lnTo>
                <a:lnTo>
                  <a:pt x="4892999" y="5185259"/>
                </a:lnTo>
                <a:lnTo>
                  <a:pt x="0" y="5185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-63347" y="4855538"/>
            <a:ext cx="5409253" cy="5251893"/>
          </a:xfrm>
          <a:custGeom>
            <a:avLst/>
            <a:gdLst/>
            <a:ahLst/>
            <a:cxnLst/>
            <a:rect l="l" t="t" r="r" b="b"/>
            <a:pathLst>
              <a:path w="5409253" h="5251893">
                <a:moveTo>
                  <a:pt x="5409253" y="0"/>
                </a:moveTo>
                <a:lnTo>
                  <a:pt x="0" y="0"/>
                </a:lnTo>
                <a:lnTo>
                  <a:pt x="0" y="5251893"/>
                </a:lnTo>
                <a:lnTo>
                  <a:pt x="5409253" y="5251893"/>
                </a:lnTo>
                <a:lnTo>
                  <a:pt x="54092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0">
            <a:extLst>
              <a:ext uri="{FF2B5EF4-FFF2-40B4-BE49-F238E27FC236}">
                <a16:creationId xmlns:a16="http://schemas.microsoft.com/office/drawing/2014/main" id="{5BEBB645-65DC-7430-67C1-D28ED76346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5772017" y="-96543"/>
            <a:ext cx="2272326" cy="3070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72622" y="190500"/>
            <a:ext cx="188976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8800" dirty="0">
                <a:latin typeface="Hagrid Ultra-Bold" panose="020B0604020202020204" charset="0"/>
              </a:rPr>
              <a:t>Innovation &amp; Uniqueness</a:t>
            </a:r>
            <a:endParaRPr lang="en-US" sz="8800" b="1" dirty="0">
              <a:solidFill>
                <a:srgbClr val="034172"/>
              </a:solidFill>
              <a:latin typeface="Hagrid Ultra-Bold" panose="020B0604020202020204" charset="0"/>
              <a:ea typeface="Hagrid Ultra-Bold"/>
              <a:cs typeface="Hagrid Ultra-Bold"/>
              <a:sym typeface="Hagrid Ultra-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756964" y="1855684"/>
            <a:ext cx="8868014" cy="8755148"/>
          </a:xfrm>
          <a:custGeom>
            <a:avLst/>
            <a:gdLst/>
            <a:ahLst/>
            <a:cxnLst/>
            <a:rect l="l" t="t" r="r" b="b"/>
            <a:pathLst>
              <a:path w="8868014" h="8755148">
                <a:moveTo>
                  <a:pt x="0" y="0"/>
                </a:moveTo>
                <a:lnTo>
                  <a:pt x="8868014" y="0"/>
                </a:lnTo>
                <a:lnTo>
                  <a:pt x="8868014" y="8755148"/>
                </a:lnTo>
                <a:lnTo>
                  <a:pt x="0" y="8755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DBFBB7F8-5869-8171-C797-CCEC8ABEA0F7}"/>
              </a:ext>
            </a:extLst>
          </p:cNvPr>
          <p:cNvSpPr/>
          <p:nvPr/>
        </p:nvSpPr>
        <p:spPr>
          <a:xfrm>
            <a:off x="2286000" y="1415743"/>
            <a:ext cx="10201312" cy="6631345"/>
          </a:xfrm>
          <a:prstGeom prst="cloud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dirty="0"/>
              <a:t>•</a:t>
            </a:r>
            <a:r>
              <a:rPr lang="en-US" dirty="0"/>
              <a:t> </a:t>
            </a:r>
            <a:r>
              <a:rPr lang="en-US" sz="3200" dirty="0"/>
              <a:t>Multidisease prediction capability.</a:t>
            </a:r>
          </a:p>
          <a:p>
            <a:r>
              <a:rPr lang="en-US" sz="3200" dirty="0"/>
              <a:t>• Can integrate with telemedicine platforms.</a:t>
            </a:r>
          </a:p>
          <a:p>
            <a:r>
              <a:rPr lang="en-US" sz="3200" dirty="0"/>
              <a:t>• Works even on low-resource devices.</a:t>
            </a:r>
          </a:p>
          <a:p>
            <a:r>
              <a:rPr lang="en-US" sz="3200" dirty="0"/>
              <a:t>• High scalability for national adoption.</a:t>
            </a: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F5D109FA-B355-66A6-17E8-527095B542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716953" y="5688344"/>
            <a:ext cx="4222153" cy="4717489"/>
          </a:xfrm>
          <a:prstGeom prst="rect">
            <a:avLst/>
          </a:prstGeom>
        </p:spPr>
      </p:pic>
      <p:sp>
        <p:nvSpPr>
          <p:cNvPr id="8" name="Freeform 13">
            <a:extLst>
              <a:ext uri="{FF2B5EF4-FFF2-40B4-BE49-F238E27FC236}">
                <a16:creationId xmlns:a16="http://schemas.microsoft.com/office/drawing/2014/main" id="{EBF5A631-4D03-F69C-7324-E658E785DD35}"/>
              </a:ext>
            </a:extLst>
          </p:cNvPr>
          <p:cNvSpPr/>
          <p:nvPr/>
        </p:nvSpPr>
        <p:spPr>
          <a:xfrm>
            <a:off x="-2295211" y="2428128"/>
            <a:ext cx="4045177" cy="3272916"/>
          </a:xfrm>
          <a:custGeom>
            <a:avLst/>
            <a:gdLst/>
            <a:ahLst/>
            <a:cxnLst/>
            <a:rect l="l" t="t" r="r" b="b"/>
            <a:pathLst>
              <a:path w="4045177" h="3272916">
                <a:moveTo>
                  <a:pt x="0" y="0"/>
                </a:moveTo>
                <a:lnTo>
                  <a:pt x="4045176" y="0"/>
                </a:lnTo>
                <a:lnTo>
                  <a:pt x="4045176" y="3272916"/>
                </a:lnTo>
                <a:lnTo>
                  <a:pt x="0" y="32729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D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/>
          <p:cNvSpPr/>
          <p:nvPr/>
        </p:nvSpPr>
        <p:spPr>
          <a:xfrm>
            <a:off x="-14591" y="-189045"/>
            <a:ext cx="5087294" cy="4837554"/>
          </a:xfrm>
          <a:custGeom>
            <a:avLst/>
            <a:gdLst/>
            <a:ahLst/>
            <a:cxnLst/>
            <a:rect l="l" t="t" r="r" b="b"/>
            <a:pathLst>
              <a:path w="5087294" h="4837554">
                <a:moveTo>
                  <a:pt x="0" y="0"/>
                </a:moveTo>
                <a:lnTo>
                  <a:pt x="5087294" y="0"/>
                </a:lnTo>
                <a:lnTo>
                  <a:pt x="5087294" y="4837554"/>
                </a:lnTo>
                <a:lnTo>
                  <a:pt x="0" y="4837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200120" y="66396"/>
            <a:ext cx="3101516" cy="5502690"/>
          </a:xfrm>
          <a:custGeom>
            <a:avLst/>
            <a:gdLst/>
            <a:ahLst/>
            <a:cxnLst/>
            <a:rect l="l" t="t" r="r" b="b"/>
            <a:pathLst>
              <a:path w="3101516" h="5502690">
                <a:moveTo>
                  <a:pt x="0" y="0"/>
                </a:moveTo>
                <a:lnTo>
                  <a:pt x="3101516" y="0"/>
                </a:lnTo>
                <a:lnTo>
                  <a:pt x="3101516" y="5502690"/>
                </a:lnTo>
                <a:lnTo>
                  <a:pt x="0" y="5502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1060953" y="5139447"/>
            <a:ext cx="7750756" cy="4791376"/>
          </a:xfrm>
          <a:custGeom>
            <a:avLst/>
            <a:gdLst/>
            <a:ahLst/>
            <a:cxnLst/>
            <a:rect l="l" t="t" r="r" b="b"/>
            <a:pathLst>
              <a:path w="7750756" h="4791376">
                <a:moveTo>
                  <a:pt x="0" y="0"/>
                </a:moveTo>
                <a:lnTo>
                  <a:pt x="7750756" y="0"/>
                </a:lnTo>
                <a:lnTo>
                  <a:pt x="7750756" y="4791376"/>
                </a:lnTo>
                <a:lnTo>
                  <a:pt x="0" y="4791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850812" y="3354377"/>
            <a:ext cx="10257088" cy="5968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• Integration with wearable devices.</a:t>
            </a:r>
          </a:p>
          <a:p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• Expansion to real-time medical imaging predictions.</a:t>
            </a:r>
          </a:p>
          <a:p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• Hospital management dashboard.</a:t>
            </a:r>
          </a:p>
          <a:p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• Regional language support for rural deployment.</a:t>
            </a:r>
          </a:p>
          <a:p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• Partnership with govt. health programmers.</a:t>
            </a:r>
          </a:p>
          <a:p>
            <a:pPr marL="0" lvl="0" indent="0" algn="ctr">
              <a:lnSpc>
                <a:spcPts val="4335"/>
              </a:lnSpc>
              <a:spcBef>
                <a:spcPct val="0"/>
              </a:spcBef>
            </a:pPr>
            <a:endParaRPr lang="en-US" sz="4400" u="none" strike="noStrike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  <a:ea typeface="Livvic"/>
              <a:cs typeface="Livvic"/>
              <a:sym typeface="Livvic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381595" y="977422"/>
            <a:ext cx="9726305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84"/>
              </a:lnSpc>
            </a:pPr>
            <a:r>
              <a:rPr lang="en-IN" sz="8800" dirty="0">
                <a:latin typeface="Hagrid Ultra-Bold" panose="020B0604020202020204" charset="0"/>
              </a:rPr>
              <a:t>Future Scope</a:t>
            </a:r>
            <a:endParaRPr lang="en-US" sz="8784" b="1" dirty="0">
              <a:solidFill>
                <a:srgbClr val="034172"/>
              </a:solidFill>
              <a:latin typeface="Hagrid Ultra-Bold" panose="020B0604020202020204" charset="0"/>
              <a:ea typeface="Hagrid Ultra-Bold"/>
              <a:cs typeface="Hagrid Ultra-Bold"/>
              <a:sym typeface="Hagrid Ultra-Bold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79270C8D-D8CA-2690-38EC-6F5C39A54A6B}"/>
              </a:ext>
            </a:extLst>
          </p:cNvPr>
          <p:cNvSpPr/>
          <p:nvPr/>
        </p:nvSpPr>
        <p:spPr>
          <a:xfrm flipH="1">
            <a:off x="16002000" y="7085958"/>
            <a:ext cx="3903948" cy="3485161"/>
          </a:xfrm>
          <a:custGeom>
            <a:avLst/>
            <a:gdLst/>
            <a:ahLst/>
            <a:cxnLst/>
            <a:rect l="l" t="t" r="r" b="b"/>
            <a:pathLst>
              <a:path w="3903948" h="3485161">
                <a:moveTo>
                  <a:pt x="3903948" y="0"/>
                </a:moveTo>
                <a:lnTo>
                  <a:pt x="0" y="0"/>
                </a:lnTo>
                <a:lnTo>
                  <a:pt x="0" y="3485161"/>
                </a:lnTo>
                <a:lnTo>
                  <a:pt x="3903948" y="3485161"/>
                </a:lnTo>
                <a:lnTo>
                  <a:pt x="390394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5875" y="3241740"/>
            <a:ext cx="8796276" cy="5648664"/>
            <a:chOff x="0" y="0"/>
            <a:chExt cx="1038094" cy="2114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8094" cy="211409"/>
            </a:xfrm>
            <a:custGeom>
              <a:avLst/>
              <a:gdLst/>
              <a:ahLst/>
              <a:cxnLst/>
              <a:rect l="l" t="t" r="r" b="b"/>
              <a:pathLst>
                <a:path w="1038094" h="211409">
                  <a:moveTo>
                    <a:pt x="105705" y="0"/>
                  </a:moveTo>
                  <a:lnTo>
                    <a:pt x="932390" y="0"/>
                  </a:lnTo>
                  <a:cubicBezTo>
                    <a:pt x="960424" y="0"/>
                    <a:pt x="987311" y="11137"/>
                    <a:pt x="1007134" y="30960"/>
                  </a:cubicBezTo>
                  <a:cubicBezTo>
                    <a:pt x="1026957" y="50784"/>
                    <a:pt x="1038094" y="77670"/>
                    <a:pt x="1038094" y="105705"/>
                  </a:cubicBezTo>
                  <a:lnTo>
                    <a:pt x="1038094" y="105705"/>
                  </a:lnTo>
                  <a:cubicBezTo>
                    <a:pt x="1038094" y="133739"/>
                    <a:pt x="1026957" y="160626"/>
                    <a:pt x="1007134" y="180449"/>
                  </a:cubicBezTo>
                  <a:cubicBezTo>
                    <a:pt x="987311" y="200273"/>
                    <a:pt x="960424" y="211409"/>
                    <a:pt x="932390" y="211409"/>
                  </a:cubicBezTo>
                  <a:lnTo>
                    <a:pt x="105705" y="211409"/>
                  </a:lnTo>
                  <a:cubicBezTo>
                    <a:pt x="77670" y="211409"/>
                    <a:pt x="50784" y="200273"/>
                    <a:pt x="30960" y="180449"/>
                  </a:cubicBezTo>
                  <a:cubicBezTo>
                    <a:pt x="11137" y="160626"/>
                    <a:pt x="0" y="133739"/>
                    <a:pt x="0" y="105705"/>
                  </a:cubicBezTo>
                  <a:lnTo>
                    <a:pt x="0" y="105705"/>
                  </a:lnTo>
                  <a:cubicBezTo>
                    <a:pt x="0" y="77670"/>
                    <a:pt x="11137" y="50784"/>
                    <a:pt x="30960" y="30960"/>
                  </a:cubicBezTo>
                  <a:cubicBezTo>
                    <a:pt x="50784" y="11137"/>
                    <a:pt x="77670" y="0"/>
                    <a:pt x="105705" y="0"/>
                  </a:cubicBezTo>
                  <a:close/>
                </a:path>
              </a:pathLst>
            </a:custGeom>
            <a:solidFill>
              <a:srgbClr val="52DE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038094" cy="173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4"/>
                </a:lnSpc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1563892" y="1057324"/>
            <a:ext cx="6724108" cy="9199650"/>
          </a:xfrm>
          <a:custGeom>
            <a:avLst/>
            <a:gdLst/>
            <a:ahLst/>
            <a:cxnLst/>
            <a:rect l="l" t="t" r="r" b="b"/>
            <a:pathLst>
              <a:path w="6724108" h="9199650">
                <a:moveTo>
                  <a:pt x="6724108" y="0"/>
                </a:moveTo>
                <a:lnTo>
                  <a:pt x="0" y="0"/>
                </a:lnTo>
                <a:lnTo>
                  <a:pt x="0" y="9199650"/>
                </a:lnTo>
                <a:lnTo>
                  <a:pt x="6724108" y="9199650"/>
                </a:lnTo>
                <a:lnTo>
                  <a:pt x="67241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02013" y="1604431"/>
            <a:ext cx="914400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84"/>
              </a:lnSpc>
            </a:pPr>
            <a:r>
              <a:rPr lang="en-IN" sz="8800" dirty="0">
                <a:latin typeface="Hagrid Ultra-Bold" panose="020B0604020202020204" charset="0"/>
              </a:rPr>
              <a:t>Conclusion</a:t>
            </a:r>
            <a:endParaRPr lang="en-US" sz="8784" b="1" dirty="0">
              <a:solidFill>
                <a:srgbClr val="034172"/>
              </a:solidFill>
              <a:latin typeface="Hagrid Ultra-Bold" panose="020B0604020202020204" charset="0"/>
              <a:ea typeface="Hagrid Ultra-Bold"/>
              <a:cs typeface="Hagrid Ultra-Bold"/>
              <a:sym typeface="Hagrid Ultra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780714" y="1605318"/>
            <a:ext cx="5097922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4"/>
              </a:lnSpc>
            </a:pPr>
            <a:endParaRPr lang="en-US" sz="2344" dirty="0">
              <a:solidFill>
                <a:srgbClr val="03417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423CD2-08AC-CD21-9ABD-C41350E5B192}"/>
              </a:ext>
            </a:extLst>
          </p:cNvPr>
          <p:cNvSpPr txBox="1"/>
          <p:nvPr/>
        </p:nvSpPr>
        <p:spPr>
          <a:xfrm>
            <a:off x="2780714" y="4201888"/>
            <a:ext cx="78572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• AI can make healthcare accessible &amp; affordable.</a:t>
            </a:r>
          </a:p>
          <a:p>
            <a:r>
              <a:rPr lang="en-US" sz="4000" dirty="0"/>
              <a:t>• Our system enhances diagnosis efficiency.</a:t>
            </a:r>
          </a:p>
          <a:p>
            <a:r>
              <a:rPr lang="en-US" sz="4000" dirty="0"/>
              <a:t>• Strong potential for national-level implementation.</a:t>
            </a:r>
          </a:p>
        </p:txBody>
      </p:sp>
      <p:pic>
        <p:nvPicPr>
          <p:cNvPr id="19" name="Picture 28">
            <a:extLst>
              <a:ext uri="{FF2B5EF4-FFF2-40B4-BE49-F238E27FC236}">
                <a16:creationId xmlns:a16="http://schemas.microsoft.com/office/drawing/2014/main" id="{26E544F6-FB9F-406C-9261-1D65290990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-304800" y="0"/>
            <a:ext cx="3475982" cy="404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5B9DBF0-E057-6130-D575-7B461DE347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1B3A47A6-6BAA-54E0-3A8E-AA544BDB1009}"/>
              </a:ext>
            </a:extLst>
          </p:cNvPr>
          <p:cNvGrpSpPr/>
          <p:nvPr/>
        </p:nvGrpSpPr>
        <p:grpSpPr>
          <a:xfrm>
            <a:off x="313078" y="8893968"/>
            <a:ext cx="18288000" cy="4486103"/>
            <a:chOff x="0" y="0"/>
            <a:chExt cx="4816593" cy="1181525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36D1F09A-B7A1-C8AB-F59A-754CEC32CFB1}"/>
                </a:ext>
              </a:extLst>
            </p:cNvPr>
            <p:cNvSpPr/>
            <p:nvPr/>
          </p:nvSpPr>
          <p:spPr>
            <a:xfrm>
              <a:off x="0" y="0"/>
              <a:ext cx="4816592" cy="1181525"/>
            </a:xfrm>
            <a:custGeom>
              <a:avLst/>
              <a:gdLst/>
              <a:ahLst/>
              <a:cxnLst/>
              <a:rect l="l" t="t" r="r" b="b"/>
              <a:pathLst>
                <a:path w="4816592" h="1181525">
                  <a:moveTo>
                    <a:pt x="0" y="0"/>
                  </a:moveTo>
                  <a:lnTo>
                    <a:pt x="4816592" y="0"/>
                  </a:lnTo>
                  <a:lnTo>
                    <a:pt x="4816592" y="1181525"/>
                  </a:lnTo>
                  <a:lnTo>
                    <a:pt x="0" y="1181525"/>
                  </a:lnTo>
                  <a:close/>
                </a:path>
              </a:pathLst>
            </a:custGeom>
            <a:solidFill>
              <a:srgbClr val="FFEED4"/>
            </a:solidFill>
          </p:spPr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7FADA5ED-035D-A8B4-B8B0-8A8BFEAD4EB2}"/>
                </a:ext>
              </a:extLst>
            </p:cNvPr>
            <p:cNvSpPr txBox="1"/>
            <p:nvPr/>
          </p:nvSpPr>
          <p:spPr>
            <a:xfrm>
              <a:off x="0" y="-38100"/>
              <a:ext cx="4816593" cy="1219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32" name="Freeform 5">
            <a:extLst>
              <a:ext uri="{FF2B5EF4-FFF2-40B4-BE49-F238E27FC236}">
                <a16:creationId xmlns:a16="http://schemas.microsoft.com/office/drawing/2014/main" id="{21E36F7B-486D-BA7F-1133-01F536B73FDF}"/>
              </a:ext>
            </a:extLst>
          </p:cNvPr>
          <p:cNvSpPr/>
          <p:nvPr/>
        </p:nvSpPr>
        <p:spPr>
          <a:xfrm>
            <a:off x="14576477" y="4788759"/>
            <a:ext cx="4834512" cy="4834512"/>
          </a:xfrm>
          <a:custGeom>
            <a:avLst/>
            <a:gdLst/>
            <a:ahLst/>
            <a:cxnLst/>
            <a:rect l="l" t="t" r="r" b="b"/>
            <a:pathLst>
              <a:path w="4834512" h="4834512">
                <a:moveTo>
                  <a:pt x="0" y="0"/>
                </a:moveTo>
                <a:lnTo>
                  <a:pt x="4834512" y="0"/>
                </a:lnTo>
                <a:lnTo>
                  <a:pt x="4834512" y="4834511"/>
                </a:lnTo>
                <a:lnTo>
                  <a:pt x="0" y="4834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06A7B609-9653-80EB-D764-373AB23174D0}"/>
              </a:ext>
            </a:extLst>
          </p:cNvPr>
          <p:cNvSpPr/>
          <p:nvPr/>
        </p:nvSpPr>
        <p:spPr>
          <a:xfrm>
            <a:off x="-5367054" y="1540512"/>
            <a:ext cx="7474781" cy="4376145"/>
          </a:xfrm>
          <a:custGeom>
            <a:avLst/>
            <a:gdLst/>
            <a:ahLst/>
            <a:cxnLst/>
            <a:rect l="l" t="t" r="r" b="b"/>
            <a:pathLst>
              <a:path w="7474781" h="4376145">
                <a:moveTo>
                  <a:pt x="0" y="0"/>
                </a:moveTo>
                <a:lnTo>
                  <a:pt x="7474782" y="0"/>
                </a:lnTo>
                <a:lnTo>
                  <a:pt x="7474782" y="4376144"/>
                </a:lnTo>
                <a:lnTo>
                  <a:pt x="0" y="4376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35" name="Picture 8">
            <a:extLst>
              <a:ext uri="{FF2B5EF4-FFF2-40B4-BE49-F238E27FC236}">
                <a16:creationId xmlns:a16="http://schemas.microsoft.com/office/drawing/2014/main" id="{E80C39D9-041C-11E3-5793-8539D0022FB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1128123" y="2434996"/>
            <a:ext cx="11509930" cy="8229600"/>
          </a:xfrm>
          <a:prstGeom prst="rect">
            <a:avLst/>
          </a:prstGeom>
        </p:spPr>
      </p:pic>
      <p:sp>
        <p:nvSpPr>
          <p:cNvPr id="36" name="TextBox 9">
            <a:extLst>
              <a:ext uri="{FF2B5EF4-FFF2-40B4-BE49-F238E27FC236}">
                <a16:creationId xmlns:a16="http://schemas.microsoft.com/office/drawing/2014/main" id="{EB9EBF4C-4439-9230-6B3B-1C3EA10F71D9}"/>
              </a:ext>
            </a:extLst>
          </p:cNvPr>
          <p:cNvSpPr txBox="1"/>
          <p:nvPr/>
        </p:nvSpPr>
        <p:spPr>
          <a:xfrm>
            <a:off x="5345102" y="4592475"/>
            <a:ext cx="7597796" cy="244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49"/>
              </a:lnSpc>
              <a:spcBef>
                <a:spcPct val="0"/>
              </a:spcBef>
            </a:pPr>
            <a:r>
              <a:rPr lang="en-US" sz="19741" dirty="0">
                <a:solidFill>
                  <a:srgbClr val="FFEED4"/>
                </a:solidFill>
                <a:latin typeface="Hagrid Ultra-Bold" panose="020B0604020202020204" charset="0"/>
                <a:ea typeface="Bagel Fat One"/>
                <a:cs typeface="Bagel Fat One"/>
                <a:sym typeface="Bagel Fat One"/>
              </a:rPr>
              <a:t>YOU</a:t>
            </a: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0D7C0AF5-223D-FC85-AB27-63892866B80F}"/>
              </a:ext>
            </a:extLst>
          </p:cNvPr>
          <p:cNvSpPr txBox="1"/>
          <p:nvPr/>
        </p:nvSpPr>
        <p:spPr>
          <a:xfrm>
            <a:off x="4626842" y="2954973"/>
            <a:ext cx="9034317" cy="209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315"/>
              </a:lnSpc>
              <a:spcBef>
                <a:spcPct val="0"/>
              </a:spcBef>
            </a:pPr>
            <a:r>
              <a:rPr lang="en-US" sz="16819" dirty="0">
                <a:solidFill>
                  <a:srgbClr val="FFEED4"/>
                </a:solidFill>
                <a:latin typeface="Hagrid Ultra-Bold" panose="020B0604020202020204" charset="0"/>
                <a:ea typeface="Bagel Fat One"/>
                <a:cs typeface="Bagel Fat One"/>
                <a:sym typeface="Bagel Fat One"/>
              </a:rPr>
              <a:t>THANK</a:t>
            </a:r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7C2545A9-A26A-03FB-FBD5-3F567FE79BFE}"/>
              </a:ext>
            </a:extLst>
          </p:cNvPr>
          <p:cNvSpPr/>
          <p:nvPr/>
        </p:nvSpPr>
        <p:spPr>
          <a:xfrm flipH="1">
            <a:off x="2514453" y="-1615716"/>
            <a:ext cx="5109119" cy="4133741"/>
          </a:xfrm>
          <a:custGeom>
            <a:avLst/>
            <a:gdLst/>
            <a:ahLst/>
            <a:cxnLst/>
            <a:rect l="l" t="t" r="r" b="b"/>
            <a:pathLst>
              <a:path w="5109119" h="4133741">
                <a:moveTo>
                  <a:pt x="5109118" y="0"/>
                </a:moveTo>
                <a:lnTo>
                  <a:pt x="0" y="0"/>
                </a:lnTo>
                <a:lnTo>
                  <a:pt x="0" y="4133741"/>
                </a:lnTo>
                <a:lnTo>
                  <a:pt x="5109118" y="4133741"/>
                </a:lnTo>
                <a:lnTo>
                  <a:pt x="510911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12">
            <a:extLst>
              <a:ext uri="{FF2B5EF4-FFF2-40B4-BE49-F238E27FC236}">
                <a16:creationId xmlns:a16="http://schemas.microsoft.com/office/drawing/2014/main" id="{23633237-1AB9-1AF3-9228-8EAD88B4B592}"/>
              </a:ext>
            </a:extLst>
          </p:cNvPr>
          <p:cNvSpPr/>
          <p:nvPr/>
        </p:nvSpPr>
        <p:spPr>
          <a:xfrm>
            <a:off x="13444372" y="-15160"/>
            <a:ext cx="2982694" cy="2662732"/>
          </a:xfrm>
          <a:custGeom>
            <a:avLst/>
            <a:gdLst/>
            <a:ahLst/>
            <a:cxnLst/>
            <a:rect l="l" t="t" r="r" b="b"/>
            <a:pathLst>
              <a:path w="2982694" h="2662732">
                <a:moveTo>
                  <a:pt x="0" y="0"/>
                </a:moveTo>
                <a:lnTo>
                  <a:pt x="2982694" y="0"/>
                </a:lnTo>
                <a:lnTo>
                  <a:pt x="2982694" y="2662732"/>
                </a:lnTo>
                <a:lnTo>
                  <a:pt x="0" y="26627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13">
            <a:extLst>
              <a:ext uri="{FF2B5EF4-FFF2-40B4-BE49-F238E27FC236}">
                <a16:creationId xmlns:a16="http://schemas.microsoft.com/office/drawing/2014/main" id="{BA765C56-9B3E-7E39-9C88-844F45870156}"/>
              </a:ext>
            </a:extLst>
          </p:cNvPr>
          <p:cNvGrpSpPr/>
          <p:nvPr/>
        </p:nvGrpSpPr>
        <p:grpSpPr>
          <a:xfrm>
            <a:off x="2107728" y="876224"/>
            <a:ext cx="304953" cy="304953"/>
            <a:chOff x="0" y="0"/>
            <a:chExt cx="812800" cy="812800"/>
          </a:xfrm>
        </p:grpSpPr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D260593A-0305-D8F2-AA6A-1FD733FF18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ED4"/>
            </a:solidFill>
          </p:spPr>
        </p:sp>
        <p:sp>
          <p:nvSpPr>
            <p:cNvPr id="42" name="TextBox 15">
              <a:extLst>
                <a:ext uri="{FF2B5EF4-FFF2-40B4-BE49-F238E27FC236}">
                  <a16:creationId xmlns:a16="http://schemas.microsoft.com/office/drawing/2014/main" id="{7983F3E1-9962-BC46-1984-89D982C3FEC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43" name="Group 16">
            <a:extLst>
              <a:ext uri="{FF2B5EF4-FFF2-40B4-BE49-F238E27FC236}">
                <a16:creationId xmlns:a16="http://schemas.microsoft.com/office/drawing/2014/main" id="{B200AE65-9379-3129-EF1B-6178DDE4ACB2}"/>
              </a:ext>
            </a:extLst>
          </p:cNvPr>
          <p:cNvGrpSpPr/>
          <p:nvPr/>
        </p:nvGrpSpPr>
        <p:grpSpPr>
          <a:xfrm>
            <a:off x="5179164" y="6383858"/>
            <a:ext cx="165938" cy="165938"/>
            <a:chOff x="0" y="0"/>
            <a:chExt cx="812800" cy="812800"/>
          </a:xfrm>
        </p:grpSpPr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DBCD3C2C-56E2-3FE5-2EF2-B269C2C04FC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ED4"/>
            </a:solidFill>
          </p:spPr>
        </p:sp>
        <p:sp>
          <p:nvSpPr>
            <p:cNvPr id="45" name="TextBox 18">
              <a:extLst>
                <a:ext uri="{FF2B5EF4-FFF2-40B4-BE49-F238E27FC236}">
                  <a16:creationId xmlns:a16="http://schemas.microsoft.com/office/drawing/2014/main" id="{AF5E9366-A0A4-CCF9-22A1-2AB69F8832C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46" name="Group 19">
            <a:extLst>
              <a:ext uri="{FF2B5EF4-FFF2-40B4-BE49-F238E27FC236}">
                <a16:creationId xmlns:a16="http://schemas.microsoft.com/office/drawing/2014/main" id="{C79BC138-268B-C328-EAE6-D30B25E7123D}"/>
              </a:ext>
            </a:extLst>
          </p:cNvPr>
          <p:cNvGrpSpPr/>
          <p:nvPr/>
        </p:nvGrpSpPr>
        <p:grpSpPr>
          <a:xfrm>
            <a:off x="9663753" y="1722883"/>
            <a:ext cx="165938" cy="165938"/>
            <a:chOff x="0" y="0"/>
            <a:chExt cx="812800" cy="812800"/>
          </a:xfrm>
        </p:grpSpPr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E53B3D7F-0CC7-03D0-E603-71A6E77D04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ED4"/>
            </a:solidFill>
          </p:spPr>
        </p:sp>
        <p:sp>
          <p:nvSpPr>
            <p:cNvPr id="48" name="TextBox 21">
              <a:extLst>
                <a:ext uri="{FF2B5EF4-FFF2-40B4-BE49-F238E27FC236}">
                  <a16:creationId xmlns:a16="http://schemas.microsoft.com/office/drawing/2014/main" id="{3145BD18-B1D3-4A8A-888E-4E5891A267B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49" name="Group 22">
            <a:extLst>
              <a:ext uri="{FF2B5EF4-FFF2-40B4-BE49-F238E27FC236}">
                <a16:creationId xmlns:a16="http://schemas.microsoft.com/office/drawing/2014/main" id="{DAEDB49E-E1C0-91BB-BCD0-D54FCFC9E27C}"/>
              </a:ext>
            </a:extLst>
          </p:cNvPr>
          <p:cNvGrpSpPr/>
          <p:nvPr/>
        </p:nvGrpSpPr>
        <p:grpSpPr>
          <a:xfrm>
            <a:off x="15570759" y="876224"/>
            <a:ext cx="304953" cy="304953"/>
            <a:chOff x="0" y="0"/>
            <a:chExt cx="812800" cy="812800"/>
          </a:xfrm>
        </p:grpSpPr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4D62B780-FEA9-EC0A-F617-E58488F6D7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ED4"/>
            </a:solidFill>
          </p:spPr>
        </p:sp>
        <p:sp>
          <p:nvSpPr>
            <p:cNvPr id="51" name="TextBox 24">
              <a:extLst>
                <a:ext uri="{FF2B5EF4-FFF2-40B4-BE49-F238E27FC236}">
                  <a16:creationId xmlns:a16="http://schemas.microsoft.com/office/drawing/2014/main" id="{50245B7A-EE32-862C-5FA4-B5910F6B68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52" name="Group 25">
            <a:extLst>
              <a:ext uri="{FF2B5EF4-FFF2-40B4-BE49-F238E27FC236}">
                <a16:creationId xmlns:a16="http://schemas.microsoft.com/office/drawing/2014/main" id="{6502AF06-9B81-1211-6A7C-CA47D6FA8897}"/>
              </a:ext>
            </a:extLst>
          </p:cNvPr>
          <p:cNvGrpSpPr/>
          <p:nvPr/>
        </p:nvGrpSpPr>
        <p:grpSpPr>
          <a:xfrm>
            <a:off x="16714744" y="1639914"/>
            <a:ext cx="165938" cy="165938"/>
            <a:chOff x="0" y="0"/>
            <a:chExt cx="812800" cy="812800"/>
          </a:xfrm>
        </p:grpSpPr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6015782E-12C9-578E-5344-C75347A601E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ED4"/>
            </a:solidFill>
          </p:spPr>
        </p:sp>
        <p:sp>
          <p:nvSpPr>
            <p:cNvPr id="54" name="TextBox 27">
              <a:extLst>
                <a:ext uri="{FF2B5EF4-FFF2-40B4-BE49-F238E27FC236}">
                  <a16:creationId xmlns:a16="http://schemas.microsoft.com/office/drawing/2014/main" id="{4D01B4B8-BB3D-6C58-9D3D-476BA1E4064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33230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354</Words>
  <Application>Microsoft Office PowerPoint</Application>
  <PresentationFormat>Custom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 Rounded MT Bold</vt:lpstr>
      <vt:lpstr>Arial</vt:lpstr>
      <vt:lpstr>Hagrid Ultra-Bold</vt:lpstr>
      <vt:lpstr>Berlin Sans FB</vt:lpstr>
      <vt:lpstr>Bagel Fat One</vt:lpstr>
      <vt:lpstr>Calibri</vt:lpstr>
      <vt:lpstr>Livvic</vt:lpstr>
      <vt:lpstr>Bodoni MT</vt:lpstr>
      <vt:lpstr>Livvic Bold</vt:lpstr>
      <vt:lpstr>Office Theme</vt:lpstr>
      <vt:lpstr>  Presented By: Jasmine Kaur(23BCA10115)                         Kashish(23BCA10111)                  Anjali Choudhary(23BCA10078)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Disease Prediction System</dc:title>
  <dc:creator>AMAN SHARMA</dc:creator>
  <cp:lastModifiedBy>DELL</cp:lastModifiedBy>
  <cp:revision>10</cp:revision>
  <dcterms:created xsi:type="dcterms:W3CDTF">2006-08-16T00:00:00Z</dcterms:created>
  <dcterms:modified xsi:type="dcterms:W3CDTF">2026-04-14T03:32:40Z</dcterms:modified>
  <dc:identifier>DAG4xmVrGok</dc:identifier>
</cp:coreProperties>
</file>